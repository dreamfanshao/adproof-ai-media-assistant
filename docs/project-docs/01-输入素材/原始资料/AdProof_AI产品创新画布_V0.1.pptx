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b2419befd9d4441" /><Relationship Type="http://schemas.openxmlformats.org/officeDocument/2006/relationships/extended-properties" Target="/docProps/app.xml" Id="R0923716e87434ae4" /><Relationship Type="http://schemas.openxmlformats.org/officeDocument/2006/relationships/officeDocument" Target="/ppt/presentation.xml" Id="Ra83fc15f7736422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517a0b9d5a042ff"/>
  </p:sldMasterIdLst>
  <p:notesMasterIdLst>
    <p:notesMasterId xmlns:r="http://schemas.openxmlformats.org/officeDocument/2006/relationships" r:id="R523f3a59a817487a"/>
  </p:notesMasterIdLst>
  <p:sldIdLst>
    <p:sldId xmlns:r="http://schemas.openxmlformats.org/officeDocument/2006/relationships" id="256" r:id="R0c9f14186f9e42f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3ea30bdf0414fc1" /><Relationship Type="http://schemas.openxmlformats.org/officeDocument/2006/relationships/slideMaster" Target="/ppt/slideMasters/slideMaster1.xml" Id="Rd517a0b9d5a042ff" /><Relationship Type="http://schemas.openxmlformats.org/officeDocument/2006/relationships/notesMaster" Target="/ppt/notesMasters/notesMaster1.xml" Id="R523f3a59a817487a" /><Relationship Type="http://schemas.openxmlformats.org/officeDocument/2006/relationships/presProps" Target="/ppt/presProps.xml" Id="R24a581532d88458b" /><Relationship Type="http://schemas.openxmlformats.org/officeDocument/2006/relationships/tableStyles" Target="/ppt/tableStyles.xml" Id="R98e07c31ddba4e8f" /><Relationship Type="http://schemas.openxmlformats.org/officeDocument/2006/relationships/slide" Target="/ppt/slides/slide1.xml" Id="R0c9f14186f9e42f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f6d6430a28b4df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19b3a8c662b41a8" /><Relationship Type="http://schemas.openxmlformats.org/officeDocument/2006/relationships/notesMaster" Target="/ppt/notesMasters/notesMaster1.xml" Id="R0c3419cf1c3541c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reference image: /workspace/scratch/87bb10935b5d/upload/01-77e56af73472a7667d19f742def8ea85.png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Planning note: all numeric product indicators are target hypotheses to be calibrated through the pilot; they are not claimed results.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fa430f3e7d43e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c968b1d77444d58" /><Relationship Type="http://schemas.openxmlformats.org/officeDocument/2006/relationships/slideLayout" Target="/ppt/slideLayouts/slideLayout1.xml" Id="R2300d8644006402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300d8644006402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1a99a318d147ca" /><Relationship Type="http://schemas.openxmlformats.org/officeDocument/2006/relationships/notesSlide" Target="/ppt/notesSlides/notesSlide1.xml" Id="R139d672660fa4d1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2" name="canvas-title">
            <a:extLst xmlns:a="http://schemas.openxmlformats.org/drawingml/2006/main">
              <a:ext uri="{FF2B5EF4-FFF2-40B4-BE49-F238E27FC236}">
                <a16:creationId xmlns:a16="http://schemas.microsoft.com/office/drawing/2014/main" id="{D79A214E-BF77-4D8E-A9DB-0E75F166B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71450"/>
            <a:ext cx="609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8354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0F172A"/>
                </a:solidFill>
                <a:latin typeface="Noto Sans SC"/>
                <a:ea typeface="Noto Sans SC"/>
                <a:cs typeface="Noto Sans SC"/>
              </a:defRPr>
            </a:pPr>
            <a:r>
              <a:rPr sz="2850" b="1">
                <a:solidFill>
                  <a:srgbClr val="0F172A"/>
                </a:solidFill>
                <a:latin typeface="Noto Sans SC"/>
                <a:ea typeface="Noto Sans SC"/>
                <a:cs typeface="Noto Sans SC"/>
              </a:rPr>
              <a:t>AdProof AI 产品创新画布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DC2184-09F5-41F4-8328-86019A75F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38125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350" b="1">
                <a:solidFill>
                  <a:srgbClr val="2563EB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563EB"/>
                </a:solidFill>
                <a:latin typeface="Noto Sans SC"/>
                <a:ea typeface="Noto Sans SC"/>
                <a:cs typeface="Noto Sans SC"/>
              </a:rPr>
              <a:t>立项之根本 · V0.1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93DFCE-223E-4BD6-AB10-D0DCE3ED9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09600"/>
            <a:ext cx="9334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2B8F75-03D6-4C17-AF6F-0B5168178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609600"/>
            <a:ext cx="1143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A5E9"/>
          </a:solidFill>
          <a:ln xmlns:a="http://schemas.openxmlformats.org/drawingml/2006/main" w="0">
            <a:solidFill>
              <a:srgbClr val="0EA5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987747-0022-4477-BDA8-3FD291ED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42950"/>
            <a:ext cx="114300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5F8FD"/>
          </a:solidFill>
          <a:ln xmlns:a="http://schemas.openxmlformats.org/drawingml/2006/main" w="9525">
            <a:solidFill>
              <a:srgbClr val="CBD8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0768CA-C65E-411E-AA72-A01B8284C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28675"/>
            <a:ext cx="781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8928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2563E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2563EB"/>
                </a:solidFill>
                <a:latin typeface="Noto Sans SC"/>
                <a:ea typeface="Noto Sans SC"/>
                <a:cs typeface="Noto Sans SC"/>
              </a:rPr>
              <a:t>产品名称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071751-DE45-4848-A2F0-6E5FCF005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09650"/>
            <a:ext cx="2590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42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0F172A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0F172A"/>
                </a:solidFill>
                <a:latin typeface="Noto Sans SC"/>
                <a:ea typeface="Noto Sans SC"/>
                <a:cs typeface="Noto Sans SC"/>
              </a:rPr>
              <a:t>AdProof AI｜达人内容风控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2D17EA-978E-4A04-B036-9E5DA437E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857250"/>
            <a:ext cx="95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EA"/>
          </a:solidFill>
          <a:ln xmlns:a="http://schemas.openxmlformats.org/drawingml/2006/main" w="0">
            <a:solidFill>
              <a:srgbClr val="CBD8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D44F8C-126C-430F-B9D4-14638EBFF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828675"/>
            <a:ext cx="781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8928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2563E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2563EB"/>
                </a:solidFill>
                <a:latin typeface="Noto Sans SC"/>
                <a:ea typeface="Noto Sans SC"/>
                <a:cs typeface="Noto Sans SC"/>
              </a:rPr>
              <a:t>产品目标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8AD4FF-7B55-4788-85E5-358003735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009650"/>
            <a:ext cx="2590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42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0F172A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0F172A"/>
                </a:solidFill>
                <a:latin typeface="Noto Sans SC"/>
                <a:ea typeface="Noto Sans SC"/>
                <a:cs typeface="Noto Sans SC"/>
              </a:rPr>
              <a:t>审核有依据｜结果可纠错｜过程可复盘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30C022-66AC-45FF-901B-F6355FE68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857250"/>
            <a:ext cx="95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EA"/>
          </a:solidFill>
          <a:ln xmlns:a="http://schemas.openxmlformats.org/drawingml/2006/main" w="0">
            <a:solidFill>
              <a:srgbClr val="CBD8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FDF207-5191-4ACA-9C18-EA70B6771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828675"/>
            <a:ext cx="781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8928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2563E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2563EB"/>
                </a:solidFill>
                <a:latin typeface="Noto Sans SC"/>
                <a:ea typeface="Noto Sans SC"/>
                <a:cs typeface="Noto Sans SC"/>
              </a:rPr>
              <a:t>目标指标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095298-4B7E-444F-BC51-6B905BA8A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009650"/>
            <a:ext cx="2590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120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0F172A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0F172A"/>
                </a:solidFill>
                <a:latin typeface="Noto Sans SC"/>
                <a:ea typeface="Noto Sans SC"/>
                <a:cs typeface="Noto Sans SC"/>
              </a:rPr>
              <a:t>时长↓≥50%｜召回≥85%｜证据≥90%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E95FCD-7489-4A06-B99B-1D84FEB77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857250"/>
            <a:ext cx="95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EA"/>
          </a:solidFill>
          <a:ln xmlns:a="http://schemas.openxmlformats.org/drawingml/2006/main" w="0">
            <a:solidFill>
              <a:srgbClr val="CBD8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BE1C85-03FC-47CE-A90B-36422F103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828675"/>
            <a:ext cx="781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8928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2563E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2563EB"/>
                </a:solidFill>
                <a:latin typeface="Noto Sans SC"/>
                <a:ea typeface="Noto Sans SC"/>
                <a:cs typeface="Noto Sans SC"/>
              </a:rPr>
              <a:t>计划周期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903AB1-3D3D-4F66-9974-5C4C4C7BF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009650"/>
            <a:ext cx="2590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42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0F172A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0F172A"/>
                </a:solidFill>
                <a:latin typeface="Noto Sans SC"/>
                <a:ea typeface="Noto Sans SC"/>
                <a:cs typeface="Noto Sans SC"/>
              </a:rPr>
              <a:t>10周：2研究｜2 PoC｜4 MVP｜2试点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4E64D0-043C-4328-938E-FCFF29C38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81125"/>
            <a:ext cx="857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D"/>
          </a:solidFill>
          <a:ln xmlns:a="http://schemas.openxmlformats.org/drawingml/2006/main" w="9525">
            <a:solidFill>
              <a:srgbClr val="CBD8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21C61F-4FAC-4879-AE05-81AB7E7F8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81125"/>
            <a:ext cx="857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0F736F-8262-4CB1-9C9A-E67F5CE8E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3352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700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2563EB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563EB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8CFA04-1D33-4930-8C57-83C5EB53F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704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0F172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0F172A"/>
                </a:solidFill>
                <a:latin typeface="Noto Sans SC"/>
                <a:ea typeface="Noto Sans SC"/>
                <a:cs typeface="Noto Sans SC"/>
              </a:rPr>
              <a:t>设计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EDEDC9-2EAA-4D1F-82C8-BEC80BC48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381125"/>
            <a:ext cx="105727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1E08ED-39DE-4375-A59C-CA438DDA5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14475"/>
            <a:ext cx="47625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ADB799-8D34-4622-AE4F-C67B239DA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47637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F172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0F172A"/>
                </a:solidFill>
                <a:latin typeface="Noto Sans SC"/>
                <a:ea typeface="Noto Sans SC"/>
                <a:cs typeface="Noto Sans SC"/>
              </a:rPr>
              <a:t>需求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8E4909-66A7-4420-B918-BB283E841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4859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为谁设计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C60F4F-8051-4435-9BD8-9A8A2B31D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514475"/>
            <a:ext cx="47625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3AB5539-D994-4740-8E19-DFCC0387A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147637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F172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0F172A"/>
                </a:solidFill>
                <a:latin typeface="Noto Sans SC"/>
                <a:ea typeface="Noto Sans SC"/>
                <a:cs typeface="Noto Sans SC"/>
              </a:rPr>
              <a:t>方案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F01B89D-B784-459D-9940-D02D940E1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48590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如何创造价值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80470E0-09A0-43A6-A291-BCC9A80BA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1476375"/>
            <a:ext cx="952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EA"/>
          </a:solidFill>
          <a:ln xmlns:a="http://schemas.openxmlformats.org/drawingml/2006/main" w="0">
            <a:solidFill>
              <a:srgbClr val="CBD8E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D4E706F-E09F-463C-A2E0-3EADFE574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838325"/>
            <a:ext cx="1257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2563EB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2563EB"/>
                </a:solidFill>
                <a:latin typeface="Noto Sans SC"/>
                <a:ea typeface="Noto Sans SC"/>
                <a:cs typeface="Noto Sans SC"/>
              </a:rPr>
              <a:t>用户调研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33B8817-6994-402B-A40E-5A71FCFB0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95500"/>
            <a:ext cx="12573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00" b="0">
                <a:solidFill>
                  <a:srgbClr val="0F172A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0F172A"/>
                </a:solidFill>
                <a:latin typeface="Noto Sans SC"/>
                <a:ea typeface="Noto Sans SC"/>
                <a:cs typeface="Noto Sans SC"/>
              </a:rPr>
              <a:t>品牌媒介、内容审核、法务协同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962F70B-F096-4C96-857A-D5B515AEF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143125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8658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0">
                <a:solidFill>
                  <a:srgbClr val="2563EB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2563EB"/>
                </a:solidFill>
                <a:latin typeface="Noto Sans SC"/>
                <a:ea typeface="Noto Sans SC"/>
                <a:cs typeface="Noto Sans SC"/>
              </a:rPr>
              <a:t>→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332C83F-9A75-4B42-BF5C-FC9DFB819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838325"/>
            <a:ext cx="1200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2563EB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2563EB"/>
                </a:solidFill>
                <a:latin typeface="Noto Sans SC"/>
                <a:ea typeface="Noto Sans SC"/>
                <a:cs typeface="Noto Sans SC"/>
              </a:rPr>
              <a:t>需求场景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D9D0B85-3586-4414-BC22-619CE2EC5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095500"/>
            <a:ext cx="120015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00" b="0">
                <a:solidFill>
                  <a:srgbClr val="0F172A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0F172A"/>
                </a:solidFill>
                <a:latin typeface="Noto Sans SC"/>
                <a:ea typeface="Noto Sans SC"/>
                <a:cs typeface="Noto Sans SC"/>
              </a:rPr>
              <a:t>护肤品达人图文初稿交付验收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E9C2339-6F19-4BB9-874B-644EB2D88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143125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8658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0">
                <a:solidFill>
                  <a:srgbClr val="2563EB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2563EB"/>
                </a:solidFill>
                <a:latin typeface="Noto Sans SC"/>
                <a:ea typeface="Noto Sans SC"/>
                <a:cs typeface="Noto Sans SC"/>
              </a:rPr>
              <a:t>→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F920D0F-ACCB-4433-9EAC-2242A54E4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838325"/>
            <a:ext cx="904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2563EB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2563EB"/>
                </a:solidFill>
                <a:latin typeface="Noto Sans SC"/>
                <a:ea typeface="Noto Sans SC"/>
                <a:cs typeface="Noto Sans SC"/>
              </a:rPr>
              <a:t>用户任务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1FA5438-4DAF-400D-9E50-81142E542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095500"/>
            <a:ext cx="904875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00" b="0">
                <a:solidFill>
                  <a:srgbClr val="0F172A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0F172A"/>
                </a:solidFill>
                <a:latin typeface="Noto Sans SC"/>
                <a:ea typeface="Noto Sans SC"/>
                <a:cs typeface="Noto Sans SC"/>
              </a:rPr>
              <a:t>传规范→传初稿→查风险→改稿→确认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895C390-0B10-4A06-9B2D-626614D88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838325"/>
            <a:ext cx="1304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2563EB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2563EB"/>
                </a:solidFill>
                <a:latin typeface="Noto Sans SC"/>
                <a:ea typeface="Noto Sans SC"/>
                <a:cs typeface="Noto Sans SC"/>
              </a:rPr>
              <a:t>价值主张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E5E9F85-2B9B-4746-A1BE-96C6BCEF5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095500"/>
            <a:ext cx="1304925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00" b="0">
                <a:solidFill>
                  <a:srgbClr val="0F172A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0F172A"/>
                </a:solidFill>
                <a:latin typeface="Noto Sans SC"/>
                <a:ea typeface="Noto Sans SC"/>
                <a:cs typeface="Noto Sans SC"/>
              </a:rPr>
              <a:t>减少漏审与反复沟通；每条结论可追溯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9878D88-C4B5-457A-A9FA-728882DE3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2143125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6046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0">
                <a:solidFill>
                  <a:srgbClr val="2563EB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2563EB"/>
                </a:solidFill>
                <a:latin typeface="Noto Sans SC"/>
                <a:ea typeface="Noto Sans SC"/>
                <a:cs typeface="Noto Sans SC"/>
              </a:rPr>
              <a:t>→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8D98F77-D9D0-4B72-B385-35FEC3497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1838325"/>
            <a:ext cx="1304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2563EB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2563EB"/>
                </a:solidFill>
                <a:latin typeface="Noto Sans SC"/>
                <a:ea typeface="Noto Sans SC"/>
                <a:cs typeface="Noto Sans SC"/>
              </a:rPr>
              <a:t>关键业务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42BAEE8-9604-4EDC-8AB9-EC0E160EF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2095500"/>
            <a:ext cx="1304925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00" b="0">
                <a:solidFill>
                  <a:srgbClr val="0F172A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0F172A"/>
                </a:solidFill>
                <a:latin typeface="Noto Sans SC"/>
                <a:ea typeface="Noto Sans SC"/>
                <a:cs typeface="Noto Sans SC"/>
              </a:rPr>
              <a:t>知识库、规则确认、AI初审、报告与追踪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10022C8-30F3-4D74-B5DF-5CAB8A70E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143125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6046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0">
                <a:solidFill>
                  <a:srgbClr val="2563EB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2563EB"/>
                </a:solidFill>
                <a:latin typeface="Noto Sans SC"/>
                <a:ea typeface="Noto Sans SC"/>
                <a:cs typeface="Noto Sans SC"/>
              </a:rPr>
              <a:t>→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D0773AD-DB83-4528-A962-34E022658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838325"/>
            <a:ext cx="1304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2563EB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2563EB"/>
                </a:solidFill>
                <a:latin typeface="Noto Sans SC"/>
                <a:ea typeface="Noto Sans SC"/>
                <a:cs typeface="Noto Sans SC"/>
              </a:rPr>
              <a:t>核心资源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01F1048-04F1-461C-9320-9893C2CDA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095500"/>
            <a:ext cx="1304925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00" b="0">
                <a:solidFill>
                  <a:srgbClr val="0F172A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0F172A"/>
                </a:solidFill>
                <a:latin typeface="Noto Sans SC"/>
                <a:ea typeface="Noto Sans SC"/>
                <a:cs typeface="Noto Sans SC"/>
              </a:rPr>
              <a:t>规范、Brief、脱敏初稿、标注与Eval集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469B64C-85BB-4F46-8E0E-EF03F0F25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2143125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6046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0">
                <a:solidFill>
                  <a:srgbClr val="2563EB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2563EB"/>
                </a:solidFill>
                <a:latin typeface="Noto Sans SC"/>
                <a:ea typeface="Noto Sans SC"/>
                <a:cs typeface="Noto Sans SC"/>
              </a:rPr>
              <a:t>→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923642A-28DC-488B-A400-A3F0F0C39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1838325"/>
            <a:ext cx="1304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2563EB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2563EB"/>
                </a:solidFill>
                <a:latin typeface="Noto Sans SC"/>
                <a:ea typeface="Noto Sans SC"/>
                <a:cs typeface="Noto Sans SC"/>
              </a:rPr>
              <a:t>协作关系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D9B077C-E0E5-4C67-A36A-4676044D4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2095500"/>
            <a:ext cx="1304925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00" b="0">
                <a:solidFill>
                  <a:srgbClr val="0F172A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0F172A"/>
                </a:solidFill>
                <a:latin typeface="Noto Sans SC"/>
                <a:ea typeface="Noto Sans SC"/>
                <a:cs typeface="Noto Sans SC"/>
              </a:rPr>
              <a:t>内部：媒介/法务/研发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200" b="0">
                <a:solidFill>
                  <a:srgbClr val="0F172A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0F172A"/>
                </a:solidFill>
                <a:latin typeface="Noto Sans SC"/>
                <a:ea typeface="Noto Sans SC"/>
                <a:cs typeface="Noto Sans SC"/>
              </a:rPr>
              <a:t>外部：试点用户/模型服务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EE4EB24-80AB-44FF-8317-4D7ED816F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476625"/>
            <a:ext cx="857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D"/>
          </a:solidFill>
          <a:ln xmlns:a="http://schemas.openxmlformats.org/drawingml/2006/main" w="9525">
            <a:solidFill>
              <a:srgbClr val="CBD8EA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C46C60E-13D2-4A7E-BD46-3D64DF2D2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476625"/>
            <a:ext cx="857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5236C92-D340-439B-A26E-748908D06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62902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700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2563EB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563EB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D863121-D412-4161-8986-627D53BB2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05250"/>
            <a:ext cx="704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0F172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0F172A"/>
                </a:solidFill>
                <a:latin typeface="Noto Sans SC"/>
                <a:ea typeface="Noto Sans SC"/>
                <a:cs typeface="Noto Sans SC"/>
              </a:rPr>
              <a:t>定位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5DF40A3-3016-42B1-9498-9E7A121EA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76625"/>
            <a:ext cx="10572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EA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DA63E74-91DE-4D65-B0A8-5AD8D50DA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90925"/>
            <a:ext cx="47625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946508D-7371-4729-A9C3-57DDEA29F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55282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F172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0F172A"/>
                </a:solidFill>
                <a:latin typeface="Noto Sans SC"/>
                <a:ea typeface="Noto Sans SC"/>
                <a:cs typeface="Noto Sans SC"/>
              </a:rPr>
              <a:t>竞品对比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7A499F1-07C8-4775-81CA-A111A6137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5623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差异化优势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24AEF7B-732D-4AAE-92DD-FA448A448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590925"/>
            <a:ext cx="47625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E74A790-9C46-444A-9B36-9DD7B58C6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55282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F172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0F172A"/>
                </a:solidFill>
                <a:latin typeface="Noto Sans SC"/>
                <a:ea typeface="Noto Sans SC"/>
                <a:cs typeface="Noto Sans SC"/>
              </a:rPr>
              <a:t>增长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329B0C1-B6A0-436E-B633-068759FFB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56235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让价值形成规模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82CE6ED-42F2-44BB-93F4-27324A7E4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552825"/>
            <a:ext cx="95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EA"/>
          </a:solidFill>
          <a:ln xmlns:a="http://schemas.openxmlformats.org/drawingml/2006/main" w="0">
            <a:solidFill>
              <a:srgbClr val="CBD8EA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35092EC-4333-4364-9CFE-0B4859BB9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95725"/>
            <a:ext cx="1285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2563EB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2563EB"/>
                </a:solidFill>
                <a:latin typeface="Noto Sans SC"/>
                <a:ea typeface="Noto Sans SC"/>
                <a:cs typeface="Noto Sans SC"/>
              </a:rPr>
              <a:t>替代方案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596F340-C907-461B-93C8-863134F50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52900"/>
            <a:ext cx="12858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00" b="0">
                <a:solidFill>
                  <a:srgbClr val="0F172A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0F172A"/>
                </a:solidFill>
                <a:latin typeface="Noto Sans SC"/>
                <a:ea typeface="Noto Sans SC"/>
                <a:cs typeface="Noto Sans SC"/>
              </a:rPr>
              <a:t>人工审核｜直接丢AI｜敏感词平台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8179C82-FE77-4CE8-A27A-E6760FBE8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895725"/>
            <a:ext cx="1571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2563EB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2563EB"/>
                </a:solidFill>
                <a:latin typeface="Noto Sans SC"/>
                <a:ea typeface="Noto Sans SC"/>
                <a:cs typeface="Noto Sans SC"/>
              </a:rPr>
              <a:t>特殊洞察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C23984C-15C3-4EF7-8AD5-CD38DDE0C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4152900"/>
            <a:ext cx="15716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00" b="0">
                <a:solidFill>
                  <a:srgbClr val="0F172A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0F172A"/>
                </a:solidFill>
                <a:latin typeface="Noto Sans SC"/>
                <a:ea typeface="Noto Sans SC"/>
                <a:cs typeface="Noto Sans SC"/>
              </a:rPr>
              <a:t>按品牌与Campaign规则给出可核验证据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AE97287-D811-40F9-875B-C264C8927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895725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2563EB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2563EB"/>
                </a:solidFill>
                <a:latin typeface="Noto Sans SC"/>
                <a:ea typeface="Noto Sans SC"/>
                <a:cs typeface="Noto Sans SC"/>
              </a:rPr>
              <a:t>价值创造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82F620A-014D-4914-AE9C-FA5356A7F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152900"/>
            <a:ext cx="10001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700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00" b="0">
                <a:solidFill>
                  <a:srgbClr val="0F172A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0F172A"/>
                </a:solidFill>
                <a:latin typeface="Noto Sans SC"/>
                <a:ea typeface="Noto Sans SC"/>
                <a:cs typeface="Noto Sans SC"/>
              </a:rPr>
              <a:t>少漏审｜少返工｜规则可沉淀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4E3CFAE-FC1B-4BE3-806B-3E8823D1E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895725"/>
            <a:ext cx="1762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2563EB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2563EB"/>
                </a:solidFill>
                <a:latin typeface="Noto Sans SC"/>
                <a:ea typeface="Noto Sans SC"/>
                <a:cs typeface="Noto Sans SC"/>
              </a:rPr>
              <a:t>用户连接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C6016E6-A317-4361-BF82-013190026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152900"/>
            <a:ext cx="17621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00" b="0">
                <a:solidFill>
                  <a:srgbClr val="0F172A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0F172A"/>
                </a:solidFill>
                <a:latin typeface="Noto Sans SC"/>
                <a:ea typeface="Noto Sans SC"/>
                <a:cs typeface="Noto Sans SC"/>
              </a:rPr>
              <a:t>朋友试点→媒介团队验证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2DCCE9F-980E-4B34-BA64-342A10CB3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895725"/>
            <a:ext cx="1695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2563EB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2563EB"/>
                </a:solidFill>
                <a:latin typeface="Noto Sans SC"/>
                <a:ea typeface="Noto Sans SC"/>
                <a:cs typeface="Noto Sans SC"/>
              </a:rPr>
              <a:t>用户成功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48E09D3-7261-45CD-A6AB-EAA895C72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152900"/>
            <a:ext cx="16954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00" b="0">
                <a:solidFill>
                  <a:srgbClr val="0F172A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0F172A"/>
                </a:solidFill>
                <a:latin typeface="Noto Sans SC"/>
                <a:ea typeface="Noto Sans SC"/>
                <a:cs typeface="Noto Sans SC"/>
              </a:rPr>
              <a:t>首审更快｜结论有出处｜人工可纠错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D97C9D9-47D3-43D8-9404-89043A4D8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3895725"/>
            <a:ext cx="2047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2563EB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2563EB"/>
                </a:solidFill>
                <a:latin typeface="Noto Sans SC"/>
                <a:ea typeface="Noto Sans SC"/>
                <a:cs typeface="Noto Sans SC"/>
              </a:rPr>
              <a:t>关系发展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BB778F90-F9D5-4DAF-A956-B5D7F3F88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4152900"/>
            <a:ext cx="20478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00" b="0">
                <a:solidFill>
                  <a:srgbClr val="0F172A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0F172A"/>
                </a:solidFill>
                <a:latin typeface="Noto Sans SC"/>
                <a:ea typeface="Noto Sans SC"/>
                <a:cs typeface="Noto Sans SC"/>
              </a:rPr>
              <a:t>反馈标注→Eval→规则模板→团队协作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BB8927D-56C6-4834-A22E-6E44ABFB0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829175"/>
            <a:ext cx="857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D"/>
          </a:solidFill>
          <a:ln xmlns:a="http://schemas.openxmlformats.org/drawingml/2006/main" w="9525">
            <a:solidFill>
              <a:srgbClr val="CBD8EA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2B11E8E-2DB5-4122-AE2D-E883F0967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829175"/>
            <a:ext cx="857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D464C8FD-CD8D-4912-888E-2312D850A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98157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700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2563EB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563EB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3C26664F-BFEC-4ED2-9761-CD25261E3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57800"/>
            <a:ext cx="704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0F172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0F172A"/>
                </a:solidFill>
                <a:latin typeface="Noto Sans SC"/>
                <a:ea typeface="Noto Sans SC"/>
                <a:cs typeface="Noto Sans SC"/>
              </a:rPr>
              <a:t>财务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3660E9FE-8465-4C39-BF59-9732DDE86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29175"/>
            <a:ext cx="105727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EA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38E3F9B5-43EC-4182-B2C7-A843C95D9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24425"/>
            <a:ext cx="47625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EE30FF7B-F822-4CCA-99F8-F8BE7FBC8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88632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F172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0F172A"/>
                </a:solidFill>
                <a:latin typeface="Noto Sans SC"/>
                <a:ea typeface="Noto Sans SC"/>
                <a:cs typeface="Noto Sans SC"/>
              </a:rPr>
              <a:t>用户终身价值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ECAF245C-5B7B-4446-A729-E1887D73A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8958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先验证价值，再验证付费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09087D2D-7966-4C69-95CA-78A941BF3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924425"/>
            <a:ext cx="47625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E49DA2DE-DD45-4A5B-A988-A8EC9E733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88632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F172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0F172A"/>
                </a:solidFill>
                <a:latin typeface="Noto Sans SC"/>
                <a:ea typeface="Noto Sans SC"/>
                <a:cs typeface="Noto Sans SC"/>
              </a:rPr>
              <a:t>成本构成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40D986E1-00E8-4283-A6BA-B90DF06F6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89585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控制模型与运维成本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7B8EFA52-962F-4268-8BA0-25509EC4E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886325"/>
            <a:ext cx="95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EA"/>
          </a:solidFill>
          <a:ln xmlns:a="http://schemas.openxmlformats.org/drawingml/2006/main" w="0">
            <a:solidFill>
              <a:srgbClr val="CBD8EA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9D04A4D1-DD84-492C-8A2F-01F2D8310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10175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0F172A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0F172A"/>
                </a:solidFill>
                <a:latin typeface="Noto Sans SC"/>
                <a:ea typeface="Noto Sans SC"/>
                <a:cs typeface="Noto Sans SC"/>
              </a:rPr>
              <a:t>价值：节省首审时间＋减少漏审返工＋沉淀规则资产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5E41E5C0-975C-4B40-8B21-FE39485A5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448300"/>
            <a:ext cx="4000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42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B7791F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B7791F"/>
                </a:solidFill>
                <a:latin typeface="Noto Sans SC"/>
                <a:ea typeface="Noto Sans SC"/>
                <a:cs typeface="Noto Sans SC"/>
              </a:rPr>
              <a:t>商业化假设（待验证）：企业订阅＋按审核量计费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AE0504B6-DC3E-4AA2-9253-E7047EED6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210175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8700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0F172A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0F172A"/>
                </a:solidFill>
                <a:latin typeface="Noto Sans SC"/>
                <a:ea typeface="Noto Sans SC"/>
                <a:cs typeface="Noto Sans SC"/>
              </a:rPr>
              <a:t>固定成本：产品研发、规则编辑器、Eval与运营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58D8B3F6-1DC2-4D98-8AB7-CB4A35755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210175"/>
            <a:ext cx="2933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8183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0F172A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0F172A"/>
                </a:solidFill>
                <a:latin typeface="Noto Sans SC"/>
                <a:ea typeface="Noto Sans SC"/>
                <a:cs typeface="Noto Sans SC"/>
              </a:rPr>
              <a:t>可变成本：模型调用、OCR、向量检索、存储与支持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948941BD-3BA5-4371-844C-6960A81AC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800725"/>
            <a:ext cx="857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D"/>
          </a:solidFill>
          <a:ln xmlns:a="http://schemas.openxmlformats.org/drawingml/2006/main" w="9525">
            <a:solidFill>
              <a:srgbClr val="CBD8EA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1E367371-7E34-478B-9A8E-69BDE085D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800725"/>
            <a:ext cx="857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65E4D826-59AB-44C9-B904-84D2C2186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5312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700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2563EB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563EB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E89DE3C0-E87E-487F-A039-8C8896ACB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29350"/>
            <a:ext cx="704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0F172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0F172A"/>
                </a:solidFill>
                <a:latin typeface="Noto Sans SC"/>
                <a:ea typeface="Noto Sans SC"/>
                <a:cs typeface="Noto Sans SC"/>
              </a:rPr>
              <a:t>验证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AE22C82E-A81A-4A81-A92C-8B0C765FF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800725"/>
            <a:ext cx="105727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D"/>
          </a:solidFill>
          <a:ln xmlns:a="http://schemas.openxmlformats.org/drawingml/2006/main" w="9525">
            <a:solidFill>
              <a:srgbClr val="CBD8EA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9DB17AA2-CB05-4585-B0B4-5A47DF7F1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895975"/>
            <a:ext cx="23622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EA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D76B2814-4705-4BCD-BF38-B096A4E71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9626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2563E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2563EB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6DAD41A5-B874-44B6-8583-3B5D7F8FC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953125"/>
            <a:ext cx="1866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0F172A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0F172A"/>
                </a:solidFill>
                <a:latin typeface="Noto Sans SC"/>
                <a:ea typeface="Noto Sans SC"/>
                <a:cs typeface="Noto Sans SC"/>
              </a:rPr>
              <a:t>需求真实吗？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410DA3E4-E305-433E-8273-AC422AACD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6219825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905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≥2次访谈＋观察1次完整人工审核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3FF75E56-A6ED-4E2E-A2EC-02CB3FFBE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60960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8046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0">
                <a:solidFill>
                  <a:srgbClr val="2563EB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2563EB"/>
                </a:solidFill>
                <a:latin typeface="Noto Sans SC"/>
                <a:ea typeface="Noto Sans SC"/>
                <a:cs typeface="Noto Sans SC"/>
              </a:rPr>
              <a:t>→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D128D4D5-04D1-4813-84D4-328D42B6B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895975"/>
            <a:ext cx="23622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EA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21FAA03A-8E06-400F-B737-703722163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59626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2563E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2563EB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B8BBE8CC-B5DC-4049-8AC7-DD444AAD4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953125"/>
            <a:ext cx="1866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0F172A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0F172A"/>
                </a:solidFill>
                <a:latin typeface="Noto Sans SC"/>
                <a:ea typeface="Noto Sans SC"/>
                <a:cs typeface="Noto Sans SC"/>
              </a:rPr>
              <a:t>价值成立吗？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35A48E49-31E5-4022-9E43-88B41783A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6219825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19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用真实样本对比“人工/直接丢AI”基线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AC0E5CCF-B841-4961-8325-51B4D53A2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60960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8046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0">
                <a:solidFill>
                  <a:srgbClr val="2563EB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2563EB"/>
                </a:solidFill>
                <a:latin typeface="Noto Sans SC"/>
                <a:ea typeface="Noto Sans SC"/>
                <a:cs typeface="Noto Sans SC"/>
              </a:rPr>
              <a:t>→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6BA56088-B173-4341-A80F-B911A9AB9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895975"/>
            <a:ext cx="23622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EA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E08BA401-9891-4FDE-BA18-3EC6DA29A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9626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2563E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2563EB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2A986BC0-784E-4075-84B8-83A7B124F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953125"/>
            <a:ext cx="1866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0F172A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0F172A"/>
                </a:solidFill>
                <a:latin typeface="Noto Sans SC"/>
                <a:ea typeface="Noto Sans SC"/>
                <a:cs typeface="Noto Sans SC"/>
              </a:rPr>
              <a:t>AI方案可用吗？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40F72671-34D9-4785-9666-E348FCE96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6219825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19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50–100条Eval：召回、证据、无依据结论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71541F6E-A36B-49AE-9F52-B4A8B2287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60960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8046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0">
                <a:solidFill>
                  <a:srgbClr val="2563EB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2563EB"/>
                </a:solidFill>
                <a:latin typeface="Noto Sans SC"/>
                <a:ea typeface="Noto Sans SC"/>
                <a:cs typeface="Noto Sans SC"/>
              </a:rPr>
              <a:t>→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38050755-DB65-4B7C-A588-45A5F2C2A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895975"/>
            <a:ext cx="23622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EA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E410C9A6-AD88-491A-8C01-1850CC512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59626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0F766E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0F766E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D46F1340-AB34-4991-958C-43AC64B62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5953125"/>
            <a:ext cx="1866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0F172A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0F172A"/>
                </a:solidFill>
                <a:latin typeface="Noto Sans SC"/>
                <a:ea typeface="Noto Sans SC"/>
                <a:cs typeface="Noto Sans SC"/>
              </a:rPr>
              <a:t>效率与成本成立吗？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244AA78A-0F8F-446A-B7BC-E30BD2534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6219825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19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4748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试点记录时长、采纳率、人工修改率、单次成本</a:t>
            </a:r>
          </a:p>
        </p:txBody>
      </p:sp>
    </p:spTree>
    <p:extLst>
      <p:ext uri="{BB962C8B-B14F-4D97-AF65-F5344CB8AC3E}">
        <p14:creationId xmlns:p14="http://schemas.microsoft.com/office/powerpoint/2010/main" val="905343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2026-08-11T08:42:04.0520000Z</dcterms:created>
  <dcterms:modified xsi:type="dcterms:W3CDTF">2026-08-11T08:42:04.0520000Z</dcterms:modified>
</coreProperties>
</file>